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EE8120-A180-44AF-AB56-001AC1FC8B71}">
  <a:tblStyle styleId="{31EE8120-A180-44AF-AB56-001AC1FC8B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355848" y="6309360"/>
            <a:ext cx="566928" cy="54864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032504" y="5669280"/>
            <a:ext cx="566928" cy="118872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709160" y="6492240"/>
            <a:ext cx="566928" cy="36576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385816" y="5120640"/>
            <a:ext cx="566928" cy="173736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62472" y="5943600"/>
            <a:ext cx="566928" cy="91440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739128" y="6400800"/>
            <a:ext cx="566928" cy="45720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415784" y="5943600"/>
            <a:ext cx="566928" cy="91440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092440" y="4480560"/>
            <a:ext cx="566928" cy="237744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769096" y="5212080"/>
            <a:ext cx="566928" cy="164592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445752" y="6035040"/>
            <a:ext cx="566928" cy="82296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122408" y="5303520"/>
            <a:ext cx="566928" cy="155448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799064" y="6126480"/>
            <a:ext cx="566928" cy="731520"/>
          </a:xfrm>
          <a:prstGeom prst="rect">
            <a:avLst/>
          </a:prstGeom>
          <a:solidFill>
            <a:srgbClr val="065A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709160" y="6035040"/>
            <a:ext cx="566928" cy="457200"/>
          </a:xfrm>
          <a:prstGeom prst="rect">
            <a:avLst/>
          </a:prstGeom>
          <a:solidFill>
            <a:srgbClr val="3FA7D6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739128" y="5852160"/>
            <a:ext cx="566928" cy="548640"/>
          </a:xfrm>
          <a:prstGeom prst="rect">
            <a:avLst/>
          </a:prstGeom>
          <a:solidFill>
            <a:srgbClr val="3FA7D6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9445752" y="5486400"/>
            <a:ext cx="566928" cy="548640"/>
          </a:xfrm>
          <a:prstGeom prst="rect">
            <a:avLst/>
          </a:prstGeom>
          <a:solidFill>
            <a:srgbClr val="3FA7D6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31520" y="15544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URBAN PLANNING DEPARTMENT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85800" y="196596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Rainwater Trapping Problem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731520" y="32004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E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CE6ED"/>
                </a:solidFill>
                <a:latin typeface="Calibri"/>
                <a:ea typeface="Calibri"/>
                <a:cs typeface="Calibri"/>
                <a:sym typeface="Calibri"/>
              </a:rPr>
              <a:t>Estimating stored rainwater between buildings after heavy rainfall — brute force and optimized algorithm design, correctness, and empirical analysis.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31520" y="4343400"/>
            <a:ext cx="502920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31520" y="434340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371600" y="4343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Member 2  |  Algorithm Design &amp;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How much water can we trap?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141732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Given an array of non-negative integers representing building heights (unit width = 1), compute the total volume of water trapped between them after rain.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Water rests above a building only up to the shorter of the tallest wall to its left and the tallest wall to its right — the rest overflows.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3291840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F4F8FA"/>
          </a:solidFill>
          <a:ln cap="flat" cmpd="sng" w="12700">
            <a:solidFill>
              <a:srgbClr val="DC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22960" y="34564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EXAMPLE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22960" y="370332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21295C"/>
                </a:solidFill>
                <a:latin typeface="Courier New"/>
                <a:ea typeface="Courier New"/>
                <a:cs typeface="Courier New"/>
                <a:sym typeface="Courier New"/>
              </a:rPr>
              <a:t>[0, 1, 0, 2, 1, 0, 1, 3, 2, 1, 2, 1]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22960" y="41148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22960" y="437083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ourier New"/>
                <a:ea typeface="Courier New"/>
                <a:cs typeface="Courier New"/>
                <a:sym typeface="Courier New"/>
              </a:rPr>
              <a:t>6 units of water trapped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687568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181344" y="4690872"/>
            <a:ext cx="402336" cy="38404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181344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675120" y="4690872"/>
            <a:ext cx="402336" cy="384048"/>
          </a:xfrm>
          <a:prstGeom prst="rect">
            <a:avLst/>
          </a:prstGeom>
          <a:solidFill>
            <a:srgbClr val="1C7293">
              <a:alpha val="8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675120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168896" y="4306824"/>
            <a:ext cx="402336" cy="768096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168896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662672" y="4690872"/>
            <a:ext cx="402336" cy="38404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662672" y="4306824"/>
            <a:ext cx="402336" cy="384048"/>
          </a:xfrm>
          <a:prstGeom prst="rect">
            <a:avLst/>
          </a:prstGeom>
          <a:solidFill>
            <a:srgbClr val="1C7293">
              <a:alpha val="8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662672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156448" y="4306824"/>
            <a:ext cx="402336" cy="768096"/>
          </a:xfrm>
          <a:prstGeom prst="rect">
            <a:avLst/>
          </a:prstGeom>
          <a:solidFill>
            <a:srgbClr val="1C7293">
              <a:alpha val="8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156448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650224" y="4690872"/>
            <a:ext cx="402336" cy="38404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8650224" y="4306824"/>
            <a:ext cx="402336" cy="384048"/>
          </a:xfrm>
          <a:prstGeom prst="rect">
            <a:avLst/>
          </a:prstGeom>
          <a:solidFill>
            <a:srgbClr val="1C7293">
              <a:alpha val="8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8650224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9144000" y="3922776"/>
            <a:ext cx="402336" cy="1152144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9144000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9637776" y="4306824"/>
            <a:ext cx="402336" cy="768096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9637776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131552" y="4690872"/>
            <a:ext cx="402336" cy="38404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0131552" y="4306824"/>
            <a:ext cx="402336" cy="384048"/>
          </a:xfrm>
          <a:prstGeom prst="rect">
            <a:avLst/>
          </a:prstGeom>
          <a:solidFill>
            <a:srgbClr val="1C7293">
              <a:alpha val="87843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131552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625328" y="4306824"/>
            <a:ext cx="402336" cy="768096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10625328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119104" y="4690872"/>
            <a:ext cx="402336" cy="384048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1119104" y="5120640"/>
            <a:ext cx="402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5596128" y="5074920"/>
            <a:ext cx="6016752" cy="0"/>
          </a:xfrm>
          <a:prstGeom prst="straightConnector1">
            <a:avLst/>
          </a:prstGeom>
          <a:noFill/>
          <a:ln cap="flat" cmpd="sng" w="19050">
            <a:solidFill>
              <a:srgbClr val="DCE6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5596128" y="5394960"/>
            <a:ext cx="6016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Blue = building   ·   Teal = trapped water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596128" y="1417320"/>
            <a:ext cx="6016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Visualizing the example array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DESIGN · APPROACH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Brute Force Approach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For every building, scan outward in both directions to find the tallest wall on each side, then trap up to the shorter of the two.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97280" y="2130552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For each index i (0 to n-1)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097280" y="269748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Scan left of i to find leftMax = max(height[0..i])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328269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48640" y="32826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97280" y="3264408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Scan right of i to find rightMax = max(height[i..n-1])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97280" y="3831336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Water above bar i = min(leftMax, rightMax) − height[i], if positive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48640" y="441655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48640" y="44165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97280" y="4398264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Add the contribution of every index to the running total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275320" y="2148840"/>
            <a:ext cx="3383280" cy="2743200"/>
          </a:xfrm>
          <a:prstGeom prst="roundRect">
            <a:avLst>
              <a:gd fmla="val 266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8549640" y="235915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549640" y="260604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O(n²)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549640" y="32918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6ED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549640" y="361188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O(1)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549640" y="40690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E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6ED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549640" y="44348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ED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CE6ED"/>
                </a:solidFill>
                <a:latin typeface="Calibri"/>
                <a:ea typeface="Calibri"/>
                <a:cs typeface="Calibri"/>
                <a:sym typeface="Calibri"/>
              </a:rPr>
              <a:t>Each of the n bars triggers two linear scans — the nested scans dominate cost.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DESIGN · APPROACH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Optimized Approach — Two Pointers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Move two pointers inward from both ends, tracking the running max seen so far on each side. Whichever side has the smaller running max is guaranteed safe to resolve immediately.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97280" y="2267712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Set left = 0, right = n-1, leftMax = 0, rightMax 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290779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48640" y="29077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97280" y="2889504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While left &lt; right, compare height[left] and height[right]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97280" y="3511296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If height[left] ≤ height[right]: update leftMax, add (leftMax − height[left]), move left forward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4151376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48640" y="4151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97280" y="4133088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Otherwise: update rightMax, add (rightMax − height[right]), move right backward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47731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548640" y="47731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097280" y="4754880"/>
            <a:ext cx="6675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Stop when the pointers meet — total is the answer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275320" y="2286000"/>
            <a:ext cx="3383280" cy="2743200"/>
          </a:xfrm>
          <a:prstGeom prst="roundRect">
            <a:avLst>
              <a:gd fmla="val 2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549640" y="24963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549640" y="274320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O(n)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549640" y="34290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549640" y="374904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O(1)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549640" y="42062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8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Optimized Solution in Java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1371600"/>
            <a:ext cx="11091672" cy="5074920"/>
          </a:xfrm>
          <a:prstGeom prst="roundRect">
            <a:avLst>
              <a:gd fmla="val 1081" name="adj"/>
            </a:avLst>
          </a:prstGeom>
          <a:solidFill>
            <a:srgbClr val="16203F"/>
          </a:solidFill>
          <a:ln cap="flat" cmpd="sng" w="12700">
            <a:solidFill>
              <a:srgbClr val="2E3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68680" y="1572768"/>
            <a:ext cx="10469880" cy="47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RainWaterTrapping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int trap(int[] height)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(height == null || height.length == 0)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0;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left = 0, right = height.length - 1;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leftMax = 0, rightMax = 0;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totalWater = 0;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while (left &lt; right)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(height[left] &lt;= height[right])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leftMax = Math.max(leftMax, height[left]);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totalWater += leftMax - height[left];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left++;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else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rightMax = Math.max(rightMax, height[right]);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totalWater += rightMax - height[right];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right--;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totalWater;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static void main(String[] args)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int[] heights = {0, 1, 0, 2, 1, 0, 1, 3, 2, 1, 2, 1};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System.out.println("Total water trapped: " + trap(heights));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Output: Total water trapped: 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D7E3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6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6C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Identifying the Basic Operation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The basic operation is the one executed most frequently, whose count drives overall running time.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48640" y="2057400"/>
            <a:ext cx="5257800" cy="3291840"/>
          </a:xfrm>
          <a:prstGeom prst="roundRect">
            <a:avLst>
              <a:gd fmla="val 2222" name="adj"/>
            </a:avLst>
          </a:prstGeom>
          <a:solidFill>
            <a:srgbClr val="F4F8FA"/>
          </a:solidFill>
          <a:ln cap="flat" cmpd="sng" w="12700">
            <a:solidFill>
              <a:srgbClr val="DC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68680" y="2331720"/>
            <a:ext cx="128016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097280" y="22860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Brute Force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86868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BASIC OPERATION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68680" y="3246120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ourier New"/>
                <a:ea typeface="Courier New"/>
                <a:cs typeface="Courier New"/>
                <a:sym typeface="Courier New"/>
              </a:rPr>
              <a:t>Comparison inside the inner scan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68680" y="3977640"/>
            <a:ext cx="4617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height[j] compared against the current running max, executed while searching left and right for every index i — roughly n comparisons per index.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126480" y="2057400"/>
            <a:ext cx="5257800" cy="3291840"/>
          </a:xfrm>
          <a:prstGeom prst="roundRect">
            <a:avLst>
              <a:gd fmla="val 2222" name="adj"/>
            </a:avLst>
          </a:prstGeom>
          <a:solidFill>
            <a:srgbClr val="F4F8FA"/>
          </a:solidFill>
          <a:ln cap="flat" cmpd="sng" w="12700">
            <a:solidFill>
              <a:srgbClr val="DC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446520" y="2331720"/>
            <a:ext cx="128016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675120" y="22860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Optimized (Two Pointer)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44652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BASIC OPERATION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446520" y="3246120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ourier New"/>
                <a:ea typeface="Courier New"/>
                <a:cs typeface="Courier New"/>
                <a:sym typeface="Courier New"/>
              </a:rPr>
              <a:t>Comparison of height[left] vs height[right]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446520" y="3977640"/>
            <a:ext cx="4617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Exactly one comparison per loop iteration decides which pointer advances — each index is visited and compared once.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Complexity 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9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{31EE8120-A180-44AF-AB56-001AC1FC8B71}</a:tableStyleId>
              </a:tblPr>
              <a:tblGrid>
                <a:gridCol w="3566150"/>
                <a:gridCol w="3749050"/>
                <a:gridCol w="37490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Brute Force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Optimized (Two Pointer)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operation count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≈ n × n = n²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≈ n (one pass)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complexity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O(n²)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O(n)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Space complexity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O(1)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Passes over the array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 outward scans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 inward pass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fit for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Small n, teaching intuition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250"/>
                        <a:buFont typeface="Courier New"/>
                        <a:buNone/>
                      </a:pPr>
                      <a:r>
                        <a:rPr lang="en-US" sz="125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Any n, production use</a:t>
                      </a:r>
                      <a:endParaRPr sz="12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6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Halving n in the brute-force approach cuts the work by ~4×; halving n in the optimized approach cuts it by ~2× — the gap widens rapidly as buildings scale up.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Proof of Correctness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Claim: at every step, the pointer with the smaller running max points to a bar whose trapped water is fully determined.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48640" y="2194560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777240" y="21488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Invariant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657600" y="2148840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leftMax always equals the true maximum of height[0..left]; rightMax always equals the true maximum of height[right..n-1]. Both start at 0 and only grow, so the invariant holds by induction.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48640" y="3127248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777240" y="3081528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Key inequality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657600" y="3081528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When height[left] ≤ height[right], then leftMax ≤ rightMax also holds, because rightMax ≥ height[right] ≥ height[left]. So the wall bounding water at 'left' is leftMax — the far side is provably tall enough not to matter.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48640" y="4059936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777240" y="4014216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Safe resolution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657600" y="4014216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Since leftMax is the binding constraint, water[left] = leftMax − height[left] is exact — no bar further right can ever lower this bound, because rightMax only increases.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48640" y="4992624"/>
            <a:ext cx="54864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777240" y="4946904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Termination &amp; completeness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0" y="4946904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Each iteration advances left or right by one, so the loop runs at most n−1 times and every index is resolved exactly once before the pointers meet — the sum is the total trapped water.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EMPIRICAL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Measured Running Time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Both algorithms were run on random input arrays of increasing size; execution time was measured directly.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920240"/>
            <a:ext cx="694944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/>
          <p:nvPr/>
        </p:nvSpPr>
        <p:spPr>
          <a:xfrm>
            <a:off x="7818120" y="1920240"/>
            <a:ext cx="3840480" cy="3840480"/>
          </a:xfrm>
          <a:prstGeom prst="roundRect">
            <a:avLst>
              <a:gd fmla="val 1429" name="adj"/>
            </a:avLst>
          </a:prstGeom>
          <a:solidFill>
            <a:srgbClr val="F4F8FA"/>
          </a:solidFill>
          <a:ln cap="flat" cmpd="sng" w="12700">
            <a:solidFill>
              <a:srgbClr val="DCE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8046720" y="208483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RAW READINGS (ms)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11"/>
          <p:cNvGraphicFramePr/>
          <p:nvPr/>
        </p:nvGraphicFramePr>
        <p:xfrm>
          <a:off x="804672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{31EE8120-A180-44AF-AB56-001AC1FC8B71}</a:tableStyleId>
              </a:tblPr>
              <a:tblGrid>
                <a:gridCol w="960125"/>
                <a:gridCol w="1234450"/>
                <a:gridCol w="12344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95C"/>
                          </a:solidFill>
                        </a:rPr>
                        <a:t>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95C"/>
                          </a:solidFill>
                        </a:rPr>
                        <a:t>Brute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1295C"/>
                          </a:solidFill>
                        </a:rPr>
                        <a:t>Optimized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065A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0.54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065A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2.28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0.06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065A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7.03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0.13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1600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065A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26.74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0.26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546A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4454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3200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065A8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102.62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C7293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0.43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1"/>
          <p:cNvSpPr/>
          <p:nvPr/>
        </p:nvSpPr>
        <p:spPr>
          <a:xfrm>
            <a:off x="8046720" y="489204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The optimized curve stays essentially flat while brute force grows quadratically — at n = 3200 it is roughly 240× slower.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5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A7D6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48640" y="73152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O(n²) to O(n)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48640" y="173736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2A3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3FA7D6"/>
                </a:solidFill>
                <a:latin typeface="Cambria"/>
                <a:ea typeface="Cambria"/>
                <a:cs typeface="Cambria"/>
                <a:sym typeface="Cambria"/>
              </a:rPr>
              <a:t>Design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822960" y="2423160"/>
            <a:ext cx="3017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E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6ED"/>
                </a:solidFill>
                <a:latin typeface="Calibri"/>
                <a:ea typeface="Calibri"/>
                <a:cs typeface="Calibri"/>
                <a:sym typeface="Calibri"/>
              </a:rPr>
              <a:t>Two running maxima replace repeated rescanning, tracked with two inward-moving pointers.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297680" y="173736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2A3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4572000" y="1965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3FA7D6"/>
                </a:solidFill>
                <a:latin typeface="Cambria"/>
                <a:ea typeface="Cambria"/>
                <a:cs typeface="Cambria"/>
                <a:sym typeface="Cambria"/>
              </a:rPr>
              <a:t>Correctness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572000" y="2423160"/>
            <a:ext cx="3017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E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6ED"/>
                </a:solidFill>
                <a:latin typeface="Calibri"/>
                <a:ea typeface="Calibri"/>
                <a:cs typeface="Calibri"/>
                <a:sym typeface="Calibri"/>
              </a:rPr>
              <a:t>The smaller side's running max is a provably tight bound, so every bar is resolved exactly once.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046720" y="1737360"/>
            <a:ext cx="3520440" cy="2377440"/>
          </a:xfrm>
          <a:prstGeom prst="roundRect">
            <a:avLst>
              <a:gd fmla="val 3077" name="adj"/>
            </a:avLst>
          </a:prstGeom>
          <a:solidFill>
            <a:srgbClr val="2A35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8321040" y="19659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7D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3FA7D6"/>
                </a:solidFill>
                <a:latin typeface="Cambria"/>
                <a:ea typeface="Cambria"/>
                <a:cs typeface="Cambria"/>
                <a:sym typeface="Cambria"/>
              </a:rPr>
              <a:t>Performance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321040" y="2423160"/>
            <a:ext cx="3017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E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CE6ED"/>
                </a:solidFill>
                <a:latin typeface="Calibri"/>
                <a:ea typeface="Calibri"/>
                <a:cs typeface="Calibri"/>
                <a:sym typeface="Calibri"/>
              </a:rPr>
              <a:t>Linear time and constant space, confirmed empirically against the quadratic brute force baseline.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fmla="val 457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914400" y="4617720"/>
            <a:ext cx="10424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the example input [0,1,0,2,1,0,1,3,2,1,2,1], both approaches correctly trap 6 units of water — the optimized version reaches that answer in a single linear pass.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6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6C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